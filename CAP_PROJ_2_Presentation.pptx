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8600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88952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D4AA"/>
                </a:solidFill>
                <a:latin typeface="Calibri"/>
              </a:rPr>
              <a:t>Electric Vehicle Sensor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C4D8"/>
                </a:solidFill>
                <a:latin typeface="Calibri"/>
              </a:rPr>
              <a:t>Predictive Machine Learning Dashboard for EV Performance, Safety &amp; Battery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Turning raw OBD-II telemetry into actionable intelligence — without expensive hardware.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00400"/>
            <a:ext cx="1325880" cy="347472"/>
          </a:xfrm>
          <a:prstGeom prst="rect">
            <a:avLst/>
          </a:prstGeom>
          <a:solidFill>
            <a:srgbClr val="1A2D45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218688"/>
            <a:ext cx="1234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AA"/>
                </a:solidFill>
                <a:latin typeface="Calibri"/>
              </a:rPr>
              <a:t>Python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74520" y="3200400"/>
            <a:ext cx="1325880" cy="347472"/>
          </a:xfrm>
          <a:prstGeom prst="rect">
            <a:avLst/>
          </a:prstGeom>
          <a:solidFill>
            <a:srgbClr val="1A2D45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3218688"/>
            <a:ext cx="1234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AA"/>
                </a:solidFill>
                <a:latin typeface="Calibri"/>
              </a:rPr>
              <a:t>Streamlit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3200400"/>
            <a:ext cx="1325880" cy="347472"/>
          </a:xfrm>
          <a:prstGeom prst="rect">
            <a:avLst/>
          </a:prstGeom>
          <a:solidFill>
            <a:srgbClr val="1A2D45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3218688"/>
            <a:ext cx="1234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AA"/>
                </a:solidFill>
                <a:latin typeface="Calibri"/>
              </a:rPr>
              <a:t>Scikit-learn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3200400"/>
            <a:ext cx="1325880" cy="347472"/>
          </a:xfrm>
          <a:prstGeom prst="rect">
            <a:avLst/>
          </a:prstGeom>
          <a:solidFill>
            <a:srgbClr val="1A2D45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3218688"/>
            <a:ext cx="1234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AA"/>
                </a:solidFill>
                <a:latin typeface="Calibri"/>
              </a:rPr>
              <a:t>XGBoost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3200400"/>
            <a:ext cx="1325880" cy="347472"/>
          </a:xfrm>
          <a:prstGeom prst="rect">
            <a:avLst/>
          </a:prstGeom>
          <a:solidFill>
            <a:srgbClr val="1A2D45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3218688"/>
            <a:ext cx="1234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AA"/>
                </a:solidFill>
                <a:latin typeface="Calibri"/>
              </a:rPr>
              <a:t>Pandas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43800" y="3200400"/>
            <a:ext cx="1325880" cy="347472"/>
          </a:xfrm>
          <a:prstGeom prst="rect">
            <a:avLst/>
          </a:prstGeom>
          <a:solidFill>
            <a:srgbClr val="1A2D45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0" y="3218688"/>
            <a:ext cx="1234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AA"/>
                </a:solidFill>
                <a:latin typeface="Calibri"/>
              </a:rPr>
              <a:t>Plotly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794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Dataset: eVED (Electric Vehicle Energy Dataset) — 37 OBD-II telemetry columns, ~500K rows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  <a:latin typeface="Calibri"/>
              </a:rPr>
              <a:t>CAP_PROJ_2  |  Electric Vehicle Intelligence Platform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4AA"/>
                </a:solidFill>
                <a:latin typeface="Calibri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C4D8"/>
                </a:solidFill>
                <a:latin typeface="Calibri"/>
              </a:rPr>
              <a:t>What is broken in today's EV ecosystem?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3794760" cy="5029200"/>
          </a:xfrm>
          <a:prstGeom prst="rect">
            <a:avLst/>
          </a:prstGeom>
          <a:solidFill>
            <a:srgbClr val="1A2D45"/>
          </a:solidFill>
          <a:ln w="1905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7899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5C5C"/>
                </a:solidFill>
                <a:latin typeface="Calibri"/>
              </a:rPr>
              <a:t>Range Anxiety &amp; Hidden Drain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3794760" cy="27432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50876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EVs claim 300mi range — drops to 180mi on cold mountain drives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0116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Reactive climate control drains battery with zero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5146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No system proactively throttles power before battery-critical zones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005840"/>
            <a:ext cx="3794760" cy="5029200"/>
          </a:xfrm>
          <a:prstGeom prst="rect">
            <a:avLst/>
          </a:prstGeom>
          <a:solidFill>
            <a:srgbClr val="1A2D45"/>
          </a:solidFill>
          <a:ln w="1905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07899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B700"/>
                </a:solidFill>
                <a:latin typeface="Calibri"/>
              </a:rPr>
              <a:t>Expensive Safety Hardware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1417320"/>
            <a:ext cx="3794760" cy="27432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50876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ADAS (cameras, radar, LIDAR) costs $3,000–$15,000 per vehicle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0116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Unavailable to most existing vehicles on the road today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5146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System failures in adverse weather (rain, fog) create false safety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1005840"/>
            <a:ext cx="3794760" cy="5029200"/>
          </a:xfrm>
          <a:prstGeom prst="rect">
            <a:avLst/>
          </a:prstGeom>
          <a:solidFill>
            <a:srgbClr val="1A2D45"/>
          </a:solidFill>
          <a:ln w="19050">
            <a:solidFill>
              <a:srgbClr val="5C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80" y="107899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CC8FF"/>
                </a:solidFill>
                <a:latin typeface="Calibri"/>
              </a:rPr>
              <a:t>Invisible Battery Degradation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1417320"/>
            <a:ext cx="3794760" cy="27432"/>
          </a:xfrm>
          <a:prstGeom prst="rect">
            <a:avLst/>
          </a:prstGeom>
          <a:solidFill>
            <a:srgbClr val="5C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150876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Drivers unknowingly destroy $15,000 batteries daily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20116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Dealerships only discover damage when battery completely fails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25146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No live feedback on chemical stress from aggressive driving events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  <a:latin typeface="Calibri"/>
              </a:rPr>
              <a:t>CAP_PROJ_2  |  Electric Vehicle Intelligence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4AA"/>
                </a:solidFill>
                <a:latin typeface="Calibri"/>
              </a:rPr>
              <a:t>Our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C4D8"/>
                </a:solidFill>
                <a:latin typeface="Calibri"/>
              </a:rPr>
              <a:t>An intelligent software layer on top of standard OBD-II sensor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0" y="1097280"/>
            <a:ext cx="4114800" cy="914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0" y="12344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OBD-II Telemetry CSV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2286000"/>
            <a:ext cx="3657600" cy="621792"/>
          </a:xfrm>
          <a:prstGeom prst="rect">
            <a:avLst/>
          </a:prstGeom>
          <a:solidFill>
            <a:srgbClr val="1A2D45"/>
          </a:solidFill>
          <a:ln w="1524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31343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  <a:latin typeface="Calibri"/>
              </a:rPr>
              <a:t>F1: HVAC Optimizer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59689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Predicts power drain, throttles AC proactively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3108960"/>
            <a:ext cx="3657600" cy="621792"/>
          </a:xfrm>
          <a:prstGeom prst="rect">
            <a:avLst/>
          </a:prstGeom>
          <a:solidFill>
            <a:srgbClr val="1A2D45"/>
          </a:solidFill>
          <a:ln w="15240">
            <a:solidFill>
              <a:srgbClr val="5C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313639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CC8FF"/>
                </a:solidFill>
                <a:latin typeface="Calibri"/>
              </a:rPr>
              <a:t>F2: Regen Braking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41985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Predicts energy harvest from downhill segments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3931920"/>
            <a:ext cx="3657600" cy="621792"/>
          </a:xfrm>
          <a:prstGeom prst="rect">
            <a:avLst/>
          </a:prstGeom>
          <a:solidFill>
            <a:srgbClr val="1A2D45"/>
          </a:solidFill>
          <a:ln w="1524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395935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700"/>
                </a:solidFill>
                <a:latin typeface="Calibri"/>
              </a:rPr>
              <a:t>F3: Driver Eco-Score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24281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Clusters driving style: Eco / Moderate / Aggressive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286000"/>
            <a:ext cx="3657600" cy="621792"/>
          </a:xfrm>
          <a:prstGeom prst="rect">
            <a:avLst/>
          </a:prstGeom>
          <a:solidFill>
            <a:srgbClr val="1A2D45"/>
          </a:solidFill>
          <a:ln w="1524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31343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5C5C"/>
                </a:solidFill>
                <a:latin typeface="Calibri"/>
              </a:rPr>
              <a:t>F4: Road Hazard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59689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Flags dangerous physics without cameras or radar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108960"/>
            <a:ext cx="3657600" cy="621792"/>
          </a:xfrm>
          <a:prstGeom prst="rect">
            <a:avLst/>
          </a:prstGeom>
          <a:solidFill>
            <a:srgbClr val="1A2D45"/>
          </a:solidFill>
          <a:ln w="1524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13639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700"/>
                </a:solidFill>
                <a:latin typeface="Calibri"/>
              </a:rPr>
              <a:t>F5: Battery Health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41985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Tracks micro-stress degradation events live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931920"/>
            <a:ext cx="3657600" cy="621792"/>
          </a:xfrm>
          <a:prstGeom prst="rect">
            <a:avLst/>
          </a:prstGeom>
          <a:solidFill>
            <a:srgbClr val="1A2D45"/>
          </a:solidFill>
          <a:ln w="1524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95935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  <a:latin typeface="Calibri"/>
              </a:rPr>
              <a:t>Dashboard &amp; Visualization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24281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Streamlit UI with live charts &amp; ML predictions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5029200"/>
            <a:ext cx="9418320" cy="685800"/>
          </a:xfrm>
          <a:prstGeom prst="rect">
            <a:avLst/>
          </a:prstGeom>
          <a:solidFill>
            <a:srgbClr val="1A2D45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5166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AA"/>
                </a:solidFill>
                <a:latin typeface="Calibri"/>
              </a:rPr>
              <a:t>Zero new hardware required — only the OBD-II port already present in every post-2008 vehicle.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  <a:latin typeface="Calibri"/>
              </a:rPr>
              <a:t>CAP_PROJ_2  |  Electric Vehicle Intelligence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4AA"/>
                </a:solidFill>
                <a:latin typeface="Calibri"/>
              </a:rPr>
              <a:t>Dataset &amp; Technical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C4D8"/>
                </a:solidFill>
                <a:latin typeface="Calibri"/>
              </a:rPr>
              <a:t>eVED — Electric Vehicle Energy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5486400" cy="5029200"/>
          </a:xfrm>
          <a:prstGeom prst="rect">
            <a:avLst/>
          </a:prstGeom>
          <a:solidFill>
            <a:srgbClr val="1A2D45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7899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AA"/>
                </a:solidFill>
                <a:latin typeface="Calibri"/>
              </a:rPr>
              <a:t>eVED Dataset Highlights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5486400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AA"/>
                </a:solidFill>
                <a:latin typeface="Calibri"/>
              </a:rPr>
              <a:t>~500,000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154533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Telemetry rows (1-sec OBD-II samples)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8424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AA"/>
                </a:solidFill>
                <a:latin typeface="Calibri"/>
              </a:rPr>
              <a:t>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202082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Sensor columns per row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45973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AA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249631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Real EV trips across Michigan, USA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3522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AA"/>
                </a:solidFill>
                <a:latin typeface="Calibri"/>
              </a:rPr>
              <a:t>35+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29718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Unique OBD-II parameters 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41071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AA"/>
                </a:solidFill>
                <a:latin typeface="Calibri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344728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OBD-II only — no camera, no radar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04164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C4D8"/>
                </a:solidFill>
                <a:latin typeface="Calibri"/>
              </a:rPr>
              <a:t>Key Columns Used Across Features: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315968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8"/>
                </a:solidFill>
                <a:latin typeface="Calibri"/>
              </a:rPr>
              <a:t>OAT [DegC]  |  Vehicle Speed [km/h]  |  HV Battery SOC [%]  |  HV Battery Current [A]  |  Gradient  |  Elevation Smoothed [m]Engine RPM
  |  Absolute Load [%]
  |  MAF [g/sec]
  |  AC Power [Watts]
  |  Heater Power [Watts]
  |  Speed Limit [km/h]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005840"/>
            <a:ext cx="5852160" cy="5029200"/>
          </a:xfrm>
          <a:prstGeom prst="rect">
            <a:avLst/>
          </a:prstGeom>
          <a:solidFill>
            <a:srgbClr val="1A2D45"/>
          </a:solidFill>
          <a:ln w="12700">
            <a:solidFill>
              <a:srgbClr val="5C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1078992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CC8FF"/>
                </a:solidFill>
                <a:latin typeface="Calibri"/>
              </a:rPr>
              <a:t>ML Pipeline Architecture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1417320"/>
            <a:ext cx="5852160" cy="27432"/>
          </a:xfrm>
          <a:prstGeom prst="rect">
            <a:avLst/>
          </a:prstGeom>
          <a:solidFill>
            <a:srgbClr val="5C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15087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  <a:latin typeface="Calibri"/>
              </a:rPr>
              <a:t>1. CSV Upload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1527048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Raw OBD-II telemetry uploaded via Streamlit 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21945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  <a:latin typeface="Calibri"/>
              </a:rPr>
              <a:t>2. Preprocessing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2212848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Column selection, imputation, outlier clipping, feature engineering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28803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  <a:latin typeface="Calibri"/>
              </a:rPr>
              <a:t>3. Train / Load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2898648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Auto-trains on first launch; loads saved .pkl on subsequent runs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35661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  <a:latin typeface="Calibri"/>
              </a:rPr>
              <a:t>4. Inference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3584448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Uploaded data passed through trained model for predictions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42519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  <a:latin typeface="Calibri"/>
              </a:rPr>
              <a:t>5. Visualization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4270248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Interactive Plotly charts: histograms, scatter, timeline, pie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49377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  <a:latin typeface="Calibri"/>
              </a:rPr>
              <a:t>6. Live Streaming (Sim)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4956048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Row-by-row simulation of real-time OBD-II sensor ingestion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  <a:latin typeface="Calibri"/>
              </a:rPr>
              <a:t>CAP_PROJ_2  |  Electric Vehicle Intelligence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4AA"/>
                </a:solidFill>
                <a:latin typeface="Calibri"/>
              </a:rPr>
              <a:t>Feature 1: Predictive HVAC Energy Optimizer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C4D8"/>
                </a:solidFill>
                <a:latin typeface="Calibri"/>
              </a:rPr>
              <a:t>Model: Random Forest Regressor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11612880" cy="502920"/>
          </a:xfrm>
          <a:prstGeom prst="rect">
            <a:avLst/>
          </a:prstGeom>
          <a:solidFill>
            <a:srgbClr val="1A2D45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5156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Goal: Predict total HVAC power draw (Watts) from ambient + vehicle state so the system can proactively throttle HVAC before battery-critical zones — unlike reactive thermostats in current EVs.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00200"/>
            <a:ext cx="2880360" cy="4480560"/>
          </a:xfrm>
          <a:prstGeom prst="rect">
            <a:avLst/>
          </a:prstGeom>
          <a:solidFill>
            <a:srgbClr val="1A2D45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73352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  <a:latin typeface="Calibri"/>
              </a:rPr>
              <a:t>Why Random Forest?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011680"/>
            <a:ext cx="2880360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084831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Non-linear: HVAC follows a U-curve (cold=heater, hot=AC)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560319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Handles feature interactions (speed + OAT combined effects)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035807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Robust to sensor noise without overfitting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511295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200 trees averaged = extremely stable predictions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600200"/>
            <a:ext cx="2880360" cy="4480560"/>
          </a:xfrm>
          <a:prstGeom prst="rect">
            <a:avLst/>
          </a:prstGeom>
          <a:solidFill>
            <a:srgbClr val="1A2D45"/>
          </a:solidFill>
          <a:ln w="12700">
            <a:solidFill>
              <a:srgbClr val="5C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1673352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CC8FF"/>
                </a:solidFill>
                <a:latin typeface="Calibri"/>
              </a:rPr>
              <a:t>Input Features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2011680"/>
            <a:ext cx="2880360" cy="27432"/>
          </a:xfrm>
          <a:prstGeom prst="rect">
            <a:avLst/>
          </a:prstGeom>
          <a:solidFill>
            <a:srgbClr val="5C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2084831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OAT [DegC]  —  |r| ≈ 0.65 (primary driver)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560319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Vehicle Speed [km/h]  —  |r| ≈ 0.20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035807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HV Battery SOC [%]  —  |r| ≈ 0.12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511295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Elevation Smoothed [m]  —  |r| ≈ 0.10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986783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Gradient (road slope)  —  |r| ≈ 0.08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600200"/>
            <a:ext cx="2880360" cy="4480560"/>
          </a:xfrm>
          <a:prstGeom prst="rect">
            <a:avLst/>
          </a:prstGeom>
          <a:solidFill>
            <a:srgbClr val="1A2D45"/>
          </a:solidFill>
          <a:ln w="1270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673352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700"/>
                </a:solidFill>
                <a:latin typeface="Calibri"/>
              </a:rPr>
              <a:t>Key Dropped Columns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2011680"/>
            <a:ext cx="2880360" cy="27432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084831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Engine RPM — |r| &lt; 0.06 (HVAC is electric, not belt-driven)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560319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Absolute Load — |r| &lt; 0.05, 50% NaN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035807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HV Battery Current — target leakage 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511295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AC Power [kW] — r=1.000 with Watts col (perfect collinear)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986783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Fuel Rate — ICE metric, irrelevant to EV HVAC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26880" y="1600200"/>
            <a:ext cx="2880360" cy="4480560"/>
          </a:xfrm>
          <a:prstGeom prst="rect">
            <a:avLst/>
          </a:prstGeom>
          <a:solidFill>
            <a:srgbClr val="1A2D45"/>
          </a:solidFill>
          <a:ln w="1270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0" y="1673352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5C5C"/>
                </a:solidFill>
                <a:latin typeface="Calibri"/>
              </a:rPr>
              <a:t>Engineered Features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26880" y="2011680"/>
            <a:ext cx="2880360" cy="27432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8320" y="2084831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HVAC_Total_Watts = AC Power + Heater Power (target)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2560319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Thermal_Load_Index = OAT x Speed (heat exchange proxy)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3035807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Battery_Gradient_Constraint = SOC x Gradient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  <a:latin typeface="Calibri"/>
              </a:rPr>
              <a:t>CAP_PROJ_2  |  Electric Vehicle Intelligence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4AA"/>
                </a:solidFill>
                <a:latin typeface="Calibri"/>
              </a:rPr>
              <a:t>Feature 2: Gradient-Aware Regen Braking Predictor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C4D8"/>
                </a:solidFill>
                <a:latin typeface="Calibri"/>
              </a:rPr>
              <a:t>Model: Gradient Boosting Regressor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11612880" cy="457200"/>
          </a:xfrm>
          <a:prstGeom prst="rect">
            <a:avLst/>
          </a:prstGeom>
          <a:solidFill>
            <a:srgbClr val="1A2D45"/>
          </a:solidFill>
          <a:ln w="12700">
            <a:solidFill>
              <a:srgbClr val="5C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33271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Goal: Predict the magnitude of regenerative braking current recoverable from downhill or deceleration segments, enabling dynamic energy management and range extension.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72768"/>
            <a:ext cx="5486400" cy="2011680"/>
          </a:xfrm>
          <a:prstGeom prst="rect">
            <a:avLst/>
          </a:prstGeom>
          <a:solidFill>
            <a:srgbClr val="1A2D45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6459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CC8FF"/>
                </a:solidFill>
                <a:latin typeface="Calibri"/>
              </a:rPr>
              <a:t>How Regen Braking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011680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When decelerating, electric motor runs in reverse as a generator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86000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Converts kinetic energy → electricity → stored in HV Battery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560320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Negative HV Battery Current = energy flowing INTO the battery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834640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Current market: driver manually selects 'Standard' or 'Strong' mode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572768"/>
            <a:ext cx="5943600" cy="2011680"/>
          </a:xfrm>
          <a:prstGeom prst="rect">
            <a:avLst/>
          </a:prstGeom>
          <a:solidFill>
            <a:srgbClr val="1A2D45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64592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  <a:latin typeface="Calibri"/>
              </a:rPr>
              <a:t>Why Gradient Boosting? (vs. Random Forest)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011680"/>
            <a:ext cx="5715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Builds trees sequentially — each tree fixes errors of the last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286000"/>
            <a:ext cx="5715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Better at capturing steep, sharp energy spikes (non-monotonic patterns)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560320"/>
            <a:ext cx="5715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Learns complex interaction: high gradient + high speed = max regen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2834640"/>
            <a:ext cx="5715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200 estimators, lr=0.1, max_depth=5, subsample=0.8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749039"/>
            <a:ext cx="5394960" cy="2377440"/>
          </a:xfrm>
          <a:prstGeom prst="rect">
            <a:avLst/>
          </a:prstGeom>
          <a:solidFill>
            <a:srgbClr val="1A2D45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822191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CC8FF"/>
                </a:solidFill>
                <a:latin typeface="Calibri"/>
              </a:rPr>
              <a:t>Input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187951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Gradient  — slope determines max recoverable potential energy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462271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Vehicle Speed [km/h]  — kinetic energy = 0.5 x m x v²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736591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HV Battery SOC [%]  — regen disabled if SOC &gt; 95% (full battery)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5010911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Elevation Smoothed [m]  — gravitational potential energy proxy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5285231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Engine RPM  — distinguishes EV vs. ICE braking modes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5559551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HV Battery Current [A]  — target variable (negative = charging)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3749039"/>
            <a:ext cx="5943600" cy="2377440"/>
          </a:xfrm>
          <a:prstGeom prst="rect">
            <a:avLst/>
          </a:prstGeom>
          <a:solidFill>
            <a:srgbClr val="1A2D45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0760" y="3822191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00"/>
                </a:solidFill>
                <a:latin typeface="Calibri"/>
              </a:rPr>
              <a:t>Engineered Features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4187951"/>
            <a:ext cx="5715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Speed_Squared = Speed²  (kinetic energy is proportional to v²)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4462271"/>
            <a:ext cx="5715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Gradient_Speed = Gradient x Speed  (combined downhill momentum)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4736591"/>
            <a:ext cx="5715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Regen_Headroom = 95 - SOC  (how much room left in the battery)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5010911"/>
            <a:ext cx="5715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Coasting_Flag = 1 if Speed &gt; 0 and RPM &lt; threshold  (engine off drift)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  <a:latin typeface="Calibri"/>
              </a:rPr>
              <a:t>CAP_PROJ_2  |  Electric Vehicle Intelligence Platform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4AA"/>
                </a:solidFill>
                <a:latin typeface="Calibri"/>
              </a:rPr>
              <a:t>Feature 3: Driver Behavior &amp; Eco-Score Classifier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C4D8"/>
                </a:solidFill>
                <a:latin typeface="Calibri"/>
              </a:rPr>
              <a:t>Model: KMeans Clustering → Random Forest Classifier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11612880" cy="457200"/>
          </a:xfrm>
          <a:prstGeom prst="rect">
            <a:avLst/>
          </a:prstGeom>
          <a:solidFill>
            <a:srgbClr val="1A2D45"/>
          </a:solidFill>
          <a:ln w="1270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33271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Goal: Automatically classify every driving moment as Eco, Moderate, or Aggressive using unsupervised clustering (no labelled data required), then train a fast classifier on top.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72768"/>
            <a:ext cx="3794760" cy="2194560"/>
          </a:xfrm>
          <a:prstGeom prst="rect">
            <a:avLst/>
          </a:prstGeom>
          <a:solidFill>
            <a:srgbClr val="1A2D45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645920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00"/>
                </a:solidFill>
                <a:latin typeface="Calibri"/>
              </a:rPr>
              <a:t>Two-Stage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01168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STAGE 1 - KMeans (k=3): Finds 3 natural driving style clusters in the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8600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No human labels needed — purely data-driven segmentation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56032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Clusters are mapped to: Eco / Moderate / Aggressive by energy usage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83464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STAGE 2 - Random Forest Classifier: Learns boundaries from KMeans labels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10896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Allows real-time scoring on new, unseen driving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572768"/>
            <a:ext cx="3794760" cy="2194560"/>
          </a:xfrm>
          <a:prstGeom prst="rect">
            <a:avLst/>
          </a:prstGeom>
          <a:solidFill>
            <a:srgbClr val="1A2D45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1645920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CC8FF"/>
                </a:solidFill>
                <a:latin typeface="Calibri"/>
              </a:rPr>
              <a:t>Input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01168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Vehicle Speed [km/h]  — speed baseline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28600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Energy Consumption [Wh/km]  — efficiency measure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56032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Engine RPM [RPM]  — aggressive = high RPM at low speed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83464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Gradient  — terrain correction for fairness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310896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Absolute Load [%]  — throttle application intensity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38328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Terrain_Corrected_Energy = Energy / (1 + |Gradient|)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1572768"/>
            <a:ext cx="3749039" cy="2194560"/>
          </a:xfrm>
          <a:prstGeom prst="rect">
            <a:avLst/>
          </a:prstGeom>
          <a:solidFill>
            <a:srgbClr val="1A2D45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1645920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5C5C"/>
                </a:solidFill>
                <a:latin typeface="Calibri"/>
              </a:rPr>
              <a:t>Driving Style Signatures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01168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ECO: low speed, steady throttle, high energy efficiency, low RPM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228600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MODERATE: medium speed, occasional acceleration bursts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56032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AGGRESSIVE: high RPM at intersections, frequent 0-100km/h cycles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83464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class_weight='balanced' — handles rare Aggressive events fairly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310896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Output: Per-second classification + overall trip Eco-Score (%)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886200"/>
            <a:ext cx="11612880" cy="2148840"/>
          </a:xfrm>
          <a:prstGeom prst="rect">
            <a:avLst/>
          </a:prstGeom>
          <a:solidFill>
            <a:srgbClr val="1A2D45"/>
          </a:solidFill>
          <a:ln w="1270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3950208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00"/>
                </a:solidFill>
                <a:latin typeface="Calibri"/>
              </a:rPr>
              <a:t>Real-World Applications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434340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700"/>
                </a:solidFill>
                <a:latin typeface="Calibri"/>
              </a:rPr>
              <a:t>Fleet Management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626864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Score every driver in a corporate EV fleet. Fire high-risk, high-cost aggressive drivers.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37560" y="434340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700"/>
                </a:solidFill>
                <a:latin typeface="Calibri"/>
              </a:rPr>
              <a:t>Insurance Telematics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37560" y="4626864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Usage-Based Insurance (UBI): aggressive driver pays 30% higher premium automatically.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434340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700"/>
                </a:solidFill>
                <a:latin typeface="Calibri"/>
              </a:rPr>
              <a:t>EV Warranty Claims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4626864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Prove or disprove that battery degradation was caused by driver behavior, not manufacturing defect.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434340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700"/>
                </a:solidFill>
                <a:latin typeface="Calibri"/>
              </a:rPr>
              <a:t>Gamification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20" y="4626864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Show driver their Eco-Score improving in real-time. Motivates fuel-efficient behavior.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  <a:latin typeface="Calibri"/>
              </a:rPr>
              <a:t>CAP_PROJ_2  |  Electric Vehicle Intelligence Platform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4AA"/>
                </a:solidFill>
                <a:latin typeface="Calibri"/>
              </a:rPr>
              <a:t>Feature 4: Road Hazard Risk Predictor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C4D8"/>
                </a:solidFill>
                <a:latin typeface="Calibri"/>
              </a:rPr>
              <a:t>Model: Random Forest Classifier — NO Camera, NO Radar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11612880" cy="457200"/>
          </a:xfrm>
          <a:prstGeom prst="rect">
            <a:avLst/>
          </a:prstGeom>
          <a:solidFill>
            <a:srgbClr val="1A2D45"/>
          </a:solidFill>
          <a:ln w="1270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33271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Goal: Classify every road segment as Low / Medium / High hazard using ONLY OBD-II sensor data. Replicates a meaningful subset of expensive ADAS functionality at near-zero hardware cost.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72768"/>
            <a:ext cx="3794760" cy="2743200"/>
          </a:xfrm>
          <a:prstGeom prst="rect">
            <a:avLst/>
          </a:prstGeom>
          <a:solidFill>
            <a:srgbClr val="1A2D45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645920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5C5C"/>
                </a:solidFill>
                <a:latin typeface="Calibri"/>
              </a:rPr>
              <a:t>Physics-Informed Hazard Labelling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01168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No ground-truth accident data exists in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8600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Constructed labels from 5 compounding risk indicators: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56032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  - Speed Excess above posted legal limit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83464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  - Intersection proximity (binary flag)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10896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  - Road gradient (steep = longer braking distance)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38328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  - OAT &lt; 4°C = Ice risk even without precipitation sensor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65760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  - High Engine Load AT an intersection = aggressive entry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93192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Risk Score = weighted sum; mapped to Low / Med / High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1572768"/>
            <a:ext cx="3794760" cy="2743200"/>
          </a:xfrm>
          <a:prstGeom prst="rect">
            <a:avLst/>
          </a:prstGeom>
          <a:solidFill>
            <a:srgbClr val="1A2D45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645920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CC8FF"/>
                </a:solidFill>
                <a:latin typeface="Calibri"/>
              </a:rPr>
              <a:t>Input Features (with Pearson 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01168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Vehicle Speed [km/h]  — primary accident cause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228600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Speed Limit [km/h]  — computes legal excess  |r| ≈ 0.45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256032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Intersection  — highest-frequency accident location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283464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Gradient  — braking effectiveness  |r| ≈ 0.22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310896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Absolute Load [%]  — aggressive throttle  |r| ≈ 0.20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38328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MAF [g/sec]  — rapid acceleration signal  |r| ≈ 0.19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365760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Engine RPM  — ICE/EV mode distinction  |r| ≈ 0.18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393192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OAT [DegC]  — ice risk proxy  |r| ≈ 0.15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1572768"/>
            <a:ext cx="3749039" cy="2743200"/>
          </a:xfrm>
          <a:prstGeom prst="rect">
            <a:avLst/>
          </a:prstGeom>
          <a:solidFill>
            <a:srgbClr val="1A2D45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1645920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00"/>
                </a:solidFill>
                <a:latin typeface="Calibri"/>
              </a:rPr>
              <a:t>Market Differentiation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201168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Current ADAS: Camera ($1,200) + Radar ($800) + LIDAR ($5,000+)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228600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Our System: OBD-II port already in every post-2008 vehicle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256032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Scales to ALL existing vehicles, not just premium new models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283464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Works in heavy rain/fog where cameras and radar fail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310896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Dropped columns: Battery SOC, HVAC, Elevation (r &lt; 0.05 each)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38328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Dropped: Speed Limit with Direction (r=0.98 collinear duplicate)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434840"/>
            <a:ext cx="11612880" cy="1600200"/>
          </a:xfrm>
          <a:prstGeom prst="rect">
            <a:avLst/>
          </a:prstGeom>
          <a:solidFill>
            <a:srgbClr val="1A2D45"/>
          </a:solidFill>
          <a:ln w="1270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4498848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5C5C"/>
                </a:solidFill>
                <a:latin typeface="Calibri"/>
              </a:rPr>
              <a:t>Risk Level Definitions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4892040"/>
            <a:ext cx="3657600" cy="868680"/>
          </a:xfrm>
          <a:prstGeom prst="rect">
            <a:avLst/>
          </a:prstGeom>
          <a:solidFill>
            <a:srgbClr val="0D1B2A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491947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AA"/>
                </a:solidFill>
                <a:latin typeface="Calibri"/>
              </a:rPr>
              <a:t>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166360"/>
            <a:ext cx="3429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Speed ≤ limit, no intersection, flat road, OAT &gt; 4°C. Physics: all safety margins positive.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51960" y="4892040"/>
            <a:ext cx="3657600" cy="868680"/>
          </a:xfrm>
          <a:prstGeom prst="rect">
            <a:avLst/>
          </a:prstGeom>
          <a:solidFill>
            <a:srgbClr val="0D1B2A"/>
          </a:solidFill>
          <a:ln w="1905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43400" y="491947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B700"/>
                </a:solidFill>
                <a:latin typeface="Calibri"/>
              </a:rPr>
              <a:t>MEDIUM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43400" y="5166360"/>
            <a:ext cx="3429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Slight speeding (1–9 km/h over), standard intersection, or steep gradient. Elevated caution zone.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92440" y="4892040"/>
            <a:ext cx="3657600" cy="868680"/>
          </a:xfrm>
          <a:prstGeom prst="rect">
            <a:avLst/>
          </a:prstGeom>
          <a:solidFill>
            <a:srgbClr val="0D1B2A"/>
          </a:solidFill>
          <a:ln w="1905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83880" y="491947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5C5C"/>
                </a:solidFill>
                <a:latin typeface="Calibri"/>
              </a:rPr>
              <a:t>HIGH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3880" y="5166360"/>
            <a:ext cx="3429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&gt;10 km/h over limit OR high throttle at intersection OR ice-risk temperature. Collision-probable.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  <a:latin typeface="Calibri"/>
              </a:rPr>
              <a:t>CAP_PROJ_2  |  Electric Vehicle Intelligence Platform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4AA"/>
                </a:solidFill>
                <a:latin typeface="Calibri"/>
              </a:rPr>
              <a:t>Feature 5: Battery Health &amp; Degradation Risk Monitor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C4D8"/>
                </a:solidFill>
                <a:latin typeface="Calibri"/>
              </a:rPr>
              <a:t>Model: XGBoost Classifier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11612880" cy="457200"/>
          </a:xfrm>
          <a:prstGeom prst="rect">
            <a:avLst/>
          </a:prstGeom>
          <a:solidFill>
            <a:srgbClr val="1A2D45"/>
          </a:solidFill>
          <a:ln w="1270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33271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Goal: Classify every telemetry row into Low / Medium / High battery stress. Track micro-degradation events in real-time — long before warranty failure or 'idiot light' activation.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72768"/>
            <a:ext cx="3794760" cy="2834640"/>
          </a:xfrm>
          <a:prstGeom prst="rect">
            <a:avLst/>
          </a:prstGeom>
          <a:solidFill>
            <a:srgbClr val="1A2D45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645920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00"/>
                </a:solidFill>
                <a:latin typeface="Calibri"/>
              </a:rPr>
              <a:t>Why XGBoost? (Not Random Forest)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01168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Battery degradation physics are highly non-linear &amp; interactive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8600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100A is safe at 50% SOC, 20°C — SAME 100A is critical at 10% SOC, -5°C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56032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XGBoost's sequential boosting finds these deep 5-variable interactions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83464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scale_pos_weight balances rare High-Stress events (only 7% of data)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10896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Random Forest treats all trees equally — misses rare dangerous spikes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38328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XGBoost specifically hunts and penalizes missed minority class errors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1572768"/>
            <a:ext cx="3794760" cy="2834640"/>
          </a:xfrm>
          <a:prstGeom prst="rect">
            <a:avLst/>
          </a:prstGeom>
          <a:solidFill>
            <a:srgbClr val="1A2D45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1645920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CC8FF"/>
                </a:solidFill>
                <a:latin typeface="Calibri"/>
              </a:rPr>
              <a:t>Input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01168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HV Battery Current [A]  — high discharge = chemical stress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28600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HV Battery SOC [%]  — extremes (&lt; 15% or &gt; 90%) = damage zone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56032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OAT [DegC]  — cold = electrolyte viscosity increase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283464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HVAC_Total_Watts  — engineered: combined HVAC thermal load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10896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Battery_Power_Watts = Current x Voltage  — real power draw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338328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SOC_Extremity = |SOC - 50| / 50  — how far from healthy center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365760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Thermal_Stress = |OAT - 22| x |Current| / 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93192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High_Discharge_Flag = 1 if |Current| &gt; 90A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1572768"/>
            <a:ext cx="3749039" cy="2834640"/>
          </a:xfrm>
          <a:prstGeom prst="rect">
            <a:avLst/>
          </a:prstGeom>
          <a:solidFill>
            <a:srgbClr val="1A2D45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1645920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5C5C"/>
                </a:solidFill>
                <a:latin typeface="Calibri"/>
              </a:rPr>
              <a:t>Stress Level Definitions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01168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LOW: SOC in 30–85%, moderate current, temperature 10–35°C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28600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    → Battery chemistry fully stable, zero degradation risk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256032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MEDIUM: Moderate SOC extremity or elevated current draw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283464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    → Normal EV operation, slight wear over years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310896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HIGH: SOC &lt; 15% or &gt; 90% + high current OR temp &lt; 0°C under load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38328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    → Active chemical damage (lithium plating / thermal runaway risk)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365760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Labelled via physics rules — no external damage dataset needed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526280"/>
            <a:ext cx="11612880" cy="1508760"/>
          </a:xfrm>
          <a:prstGeom prst="rect">
            <a:avLst/>
          </a:prstGeom>
          <a:solidFill>
            <a:srgbClr val="1A2D45"/>
          </a:solidFill>
          <a:ln w="1270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459028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00"/>
                </a:solidFill>
                <a:latin typeface="Calibri"/>
              </a:rPr>
              <a:t>The Battery Degradation Science Behind the Labels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983480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Lithium Plating: Charging too fast (high current) when battery is already &gt;90% full deposits metallic lithium — permanently reduces capacity.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294376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Electrolyte Decomposition: Discharging fully (SOC &lt; 10%) in freezing cold causes electrolyte to solidify, cracking the separator membrane.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605272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Thermal Runaway Risk: Pulling &gt;100A at very low SOC generates internal heat exceeding 60°C, accelerating SEI layer growth and capacity fade.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  <a:latin typeface="Calibri"/>
              </a:rPr>
              <a:t>CAP_PROJ_2  |  Electric Vehicle Intelligence Platform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4AA"/>
                </a:solidFill>
                <a:latin typeface="Calibri"/>
              </a:rPr>
              <a:t>Technology Stack &amp; Implementation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C4D8"/>
                </a:solidFill>
                <a:latin typeface="Calibri"/>
              </a:rPr>
              <a:t>Full-stack Python ML 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5577840" cy="1143000"/>
          </a:xfrm>
          <a:prstGeom prst="rect">
            <a:avLst/>
          </a:prstGeom>
          <a:solidFill>
            <a:srgbClr val="1A2D45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0698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AA"/>
                </a:solidFill>
                <a:latin typeface="Calibri"/>
              </a:rPr>
              <a:t>Streamlit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463040"/>
            <a:ext cx="534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Web UI framework. Real-time drag-and-drop CSV upload, sidebar navigation, live streaming simulation.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005840"/>
            <a:ext cx="5577840" cy="1143000"/>
          </a:xfrm>
          <a:prstGeom prst="rect">
            <a:avLst/>
          </a:prstGeom>
          <a:solidFill>
            <a:srgbClr val="1A2D45"/>
          </a:solidFill>
          <a:ln w="12700">
            <a:solidFill>
              <a:srgbClr val="5C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6208" y="10698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CC8FF"/>
                </a:solidFill>
                <a:latin typeface="Calibri"/>
              </a:rPr>
              <a:t>Scikit-learn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8" y="1463040"/>
            <a:ext cx="534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Random Forest Regressor (F1), Gradient Boosting Regressor (F2), Random Forest Classifier (F3, F4), KMeans (F3 labelling).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267712"/>
            <a:ext cx="5577840" cy="1143000"/>
          </a:xfrm>
          <a:prstGeom prst="rect">
            <a:avLst/>
          </a:prstGeom>
          <a:solidFill>
            <a:srgbClr val="1A2D45"/>
          </a:solidFill>
          <a:ln w="1270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3317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B700"/>
                </a:solidFill>
                <a:latin typeface="Calibri"/>
              </a:rPr>
              <a:t>XGBoost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724912"/>
            <a:ext cx="534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Feature 5 Battery Health classifier. Handles class imbalance via scale_pos_weight. GPU-capable for production.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267712"/>
            <a:ext cx="5577840" cy="1143000"/>
          </a:xfrm>
          <a:prstGeom prst="rect">
            <a:avLst/>
          </a:prstGeom>
          <a:solidFill>
            <a:srgbClr val="1A2D45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23317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AA"/>
                </a:solidFill>
                <a:latin typeface="Calibri"/>
              </a:rPr>
              <a:t>Pandas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2724912"/>
            <a:ext cx="534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Full ETL pipeline — column selection, fillna imputation, outlier clipping, feature engineering, train/test split.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529584"/>
            <a:ext cx="5577840" cy="1143000"/>
          </a:xfrm>
          <a:prstGeom prst="rect">
            <a:avLst/>
          </a:prstGeom>
          <a:solidFill>
            <a:srgbClr val="1A2D45"/>
          </a:solidFill>
          <a:ln w="12700">
            <a:solidFill>
              <a:srgbClr val="5C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359359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CC8FF"/>
                </a:solidFill>
                <a:latin typeface="Calibri"/>
              </a:rPr>
              <a:t>Joblib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3986784"/>
            <a:ext cx="534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Model serialization. 3-5x faster and 60% smaller files vs. Pickle for NumPy-heavy sklearn models.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3529584"/>
            <a:ext cx="5577840" cy="1143000"/>
          </a:xfrm>
          <a:prstGeom prst="rect">
            <a:avLst/>
          </a:prstGeom>
          <a:solidFill>
            <a:srgbClr val="1A2D45"/>
          </a:solidFill>
          <a:ln w="1270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359359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B700"/>
                </a:solidFill>
                <a:latin typeface="Calibri"/>
              </a:rPr>
              <a:t>Plotly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986784"/>
            <a:ext cx="534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Interactive charts: histograms, scatter plots (color-coded by class), timeline line charts, donut pie charts.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791455"/>
            <a:ext cx="5577840" cy="1143000"/>
          </a:xfrm>
          <a:prstGeom prst="rect">
            <a:avLst/>
          </a:prstGeom>
          <a:solidFill>
            <a:srgbClr val="1A2D45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4855463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AA"/>
                </a:solidFill>
                <a:latin typeface="Calibri"/>
              </a:rPr>
              <a:t>StandardScaler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5248655"/>
            <a:ext cx="534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Z-score normalization applied on train set, transform-only on test/inference set to prevent data leakage.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4791455"/>
            <a:ext cx="5577840" cy="1143000"/>
          </a:xfrm>
          <a:prstGeom prst="rect">
            <a:avLst/>
          </a:prstGeom>
          <a:solidFill>
            <a:srgbClr val="1A2D45"/>
          </a:solidFill>
          <a:ln w="12700">
            <a:solidFill>
              <a:srgbClr val="B0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4855463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0C4D8"/>
                </a:solidFill>
                <a:latin typeface="Calibri"/>
              </a:rPr>
              <a:t>Subprocess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8" y="5248655"/>
            <a:ext cx="534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Auto-training orchestration: app.py triggers preprocessing + ml_model scripts in background on first launch.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  <a:latin typeface="Calibri"/>
              </a:rPr>
              <a:t>CAP_PROJ_2  |  Electric Vehicle Intelligence Platform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4AA"/>
                </a:solidFill>
                <a:latin typeface="Calibri"/>
              </a:rPr>
              <a:t>Model Performance &amp;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C4D8"/>
                </a:solidFill>
                <a:latin typeface="Calibri"/>
              </a:rPr>
              <a:t>Evaluation metrics across all 5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926080" cy="38404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0515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Feature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005840"/>
            <a:ext cx="2834640" cy="38404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19272" y="10515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005840"/>
            <a:ext cx="2834640" cy="38404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31152" y="10515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Primary Metric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0" y="1005840"/>
            <a:ext cx="2834640" cy="38404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00032" y="10515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Secondary Metric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417320"/>
            <a:ext cx="2926080" cy="685800"/>
          </a:xfrm>
          <a:prstGeom prst="rect">
            <a:avLst/>
          </a:prstGeom>
          <a:solidFill>
            <a:srgbClr val="1A2D45"/>
          </a:solidFill>
          <a:ln w="1016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6120" y="1417320"/>
            <a:ext cx="3566160" cy="685800"/>
          </a:xfrm>
          <a:prstGeom prst="rect">
            <a:avLst/>
          </a:prstGeom>
          <a:solidFill>
            <a:srgbClr val="1A2D45"/>
          </a:solidFill>
          <a:ln w="1016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0" y="1417320"/>
            <a:ext cx="2423160" cy="685800"/>
          </a:xfrm>
          <a:prstGeom prst="rect">
            <a:avLst/>
          </a:prstGeom>
          <a:solidFill>
            <a:srgbClr val="1A2D45"/>
          </a:solidFill>
          <a:ln w="1016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26880" y="1417320"/>
            <a:ext cx="2560320" cy="685800"/>
          </a:xfrm>
          <a:prstGeom prst="rect">
            <a:avLst/>
          </a:prstGeom>
          <a:solidFill>
            <a:srgbClr val="1A2D45"/>
          </a:solidFill>
          <a:ln w="1016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15819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  <a:latin typeface="Calibri"/>
              </a:rPr>
              <a:t>F1: HVAC Optimizer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158191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Random Forest Regressor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15819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  <a:latin typeface="Calibri"/>
              </a:rPr>
              <a:t>R² = 0.99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158191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  <a:latin typeface="Calibri"/>
              </a:rPr>
              <a:t>RMSE: ~45W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167128"/>
            <a:ext cx="2926080" cy="685800"/>
          </a:xfrm>
          <a:prstGeom prst="rect">
            <a:avLst/>
          </a:prstGeom>
          <a:solidFill>
            <a:srgbClr val="1A2D45"/>
          </a:solidFill>
          <a:ln w="10160">
            <a:solidFill>
              <a:srgbClr val="5C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46120" y="2167128"/>
            <a:ext cx="3566160" cy="685800"/>
          </a:xfrm>
          <a:prstGeom prst="rect">
            <a:avLst/>
          </a:prstGeom>
          <a:solidFill>
            <a:srgbClr val="1A2D45"/>
          </a:solidFill>
          <a:ln w="10160">
            <a:solidFill>
              <a:srgbClr val="5C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0" y="2167128"/>
            <a:ext cx="2423160" cy="685800"/>
          </a:xfrm>
          <a:prstGeom prst="rect">
            <a:avLst/>
          </a:prstGeom>
          <a:solidFill>
            <a:srgbClr val="1A2D45"/>
          </a:solidFill>
          <a:ln w="10160">
            <a:solidFill>
              <a:srgbClr val="5C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326880" y="2167128"/>
            <a:ext cx="2560320" cy="685800"/>
          </a:xfrm>
          <a:prstGeom prst="rect">
            <a:avLst/>
          </a:prstGeom>
          <a:solidFill>
            <a:srgbClr val="1A2D45"/>
          </a:solidFill>
          <a:ln w="10160">
            <a:solidFill>
              <a:srgbClr val="5C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2331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CC8FF"/>
                </a:solidFill>
                <a:latin typeface="Calibri"/>
              </a:rPr>
              <a:t>F2: Regen Braking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2331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Gradient Boosting Regressor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  <a:latin typeface="Calibri"/>
              </a:rPr>
              <a:t>R² = 0.97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23317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  <a:latin typeface="Calibri"/>
              </a:rPr>
              <a:t>RMSE: ~3.2A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916936"/>
            <a:ext cx="2926080" cy="685800"/>
          </a:xfrm>
          <a:prstGeom prst="rect">
            <a:avLst/>
          </a:prstGeom>
          <a:solidFill>
            <a:srgbClr val="1A2D45"/>
          </a:solidFill>
          <a:ln w="1016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46120" y="2916936"/>
            <a:ext cx="3566160" cy="685800"/>
          </a:xfrm>
          <a:prstGeom prst="rect">
            <a:avLst/>
          </a:prstGeom>
          <a:solidFill>
            <a:srgbClr val="1A2D45"/>
          </a:solidFill>
          <a:ln w="1016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0" y="2916936"/>
            <a:ext cx="2423160" cy="685800"/>
          </a:xfrm>
          <a:prstGeom prst="rect">
            <a:avLst/>
          </a:prstGeom>
          <a:solidFill>
            <a:srgbClr val="1A2D45"/>
          </a:solidFill>
          <a:ln w="1016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326880" y="2916936"/>
            <a:ext cx="2560320" cy="685800"/>
          </a:xfrm>
          <a:prstGeom prst="rect">
            <a:avLst/>
          </a:prstGeom>
          <a:solidFill>
            <a:srgbClr val="1A2D45"/>
          </a:solidFill>
          <a:ln w="1016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" y="30815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700"/>
                </a:solidFill>
                <a:latin typeface="Calibri"/>
              </a:rPr>
              <a:t>F3: Driver Behavior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37560" y="30815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RF Classifier (on KMeans)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30815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  <a:latin typeface="Calibri"/>
              </a:rPr>
              <a:t>Accuracy: ~94%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308152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  <a:latin typeface="Calibri"/>
              </a:rPr>
              <a:t>Balanced F1-Score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666744"/>
            <a:ext cx="2926080" cy="685800"/>
          </a:xfrm>
          <a:prstGeom prst="rect">
            <a:avLst/>
          </a:prstGeom>
          <a:solidFill>
            <a:srgbClr val="1A2D45"/>
          </a:solidFill>
          <a:ln w="1016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46120" y="3666744"/>
            <a:ext cx="3566160" cy="685800"/>
          </a:xfrm>
          <a:prstGeom prst="rect">
            <a:avLst/>
          </a:prstGeom>
          <a:solidFill>
            <a:srgbClr val="1A2D45"/>
          </a:solidFill>
          <a:ln w="1016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858000" y="3666744"/>
            <a:ext cx="2423160" cy="685800"/>
          </a:xfrm>
          <a:prstGeom prst="rect">
            <a:avLst/>
          </a:prstGeom>
          <a:solidFill>
            <a:srgbClr val="1A2D45"/>
          </a:solidFill>
          <a:ln w="1016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326880" y="3666744"/>
            <a:ext cx="2560320" cy="685800"/>
          </a:xfrm>
          <a:prstGeom prst="rect">
            <a:avLst/>
          </a:prstGeom>
          <a:solidFill>
            <a:srgbClr val="1A2D45"/>
          </a:solidFill>
          <a:ln w="1016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4048" y="383133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5C5C"/>
                </a:solidFill>
                <a:latin typeface="Calibri"/>
              </a:rPr>
              <a:t>F4: Road Hazard Risk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37560" y="383133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Random Forest Classifier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383133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  <a:latin typeface="Calibri"/>
              </a:rPr>
              <a:t>Accuracy: ~95%+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8320" y="383133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  <a:latin typeface="Calibri"/>
              </a:rPr>
              <a:t>High Precision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416552"/>
            <a:ext cx="2926080" cy="685800"/>
          </a:xfrm>
          <a:prstGeom prst="rect">
            <a:avLst/>
          </a:prstGeom>
          <a:solidFill>
            <a:srgbClr val="1A2D45"/>
          </a:solidFill>
          <a:ln w="1016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46120" y="4416552"/>
            <a:ext cx="3566160" cy="685800"/>
          </a:xfrm>
          <a:prstGeom prst="rect">
            <a:avLst/>
          </a:prstGeom>
          <a:solidFill>
            <a:srgbClr val="1A2D45"/>
          </a:solidFill>
          <a:ln w="1016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58000" y="4416552"/>
            <a:ext cx="2423160" cy="685800"/>
          </a:xfrm>
          <a:prstGeom prst="rect">
            <a:avLst/>
          </a:prstGeom>
          <a:solidFill>
            <a:srgbClr val="1A2D45"/>
          </a:solidFill>
          <a:ln w="1016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326880" y="4416552"/>
            <a:ext cx="2560320" cy="685800"/>
          </a:xfrm>
          <a:prstGeom prst="rect">
            <a:avLst/>
          </a:prstGeom>
          <a:solidFill>
            <a:srgbClr val="1A2D45"/>
          </a:solidFill>
          <a:ln w="1016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4048" y="458114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700"/>
                </a:solidFill>
                <a:latin typeface="Calibri"/>
              </a:rPr>
              <a:t>F5: Battery Health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37560" y="458114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XGBoost Classifier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9440" y="458114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  <a:latin typeface="Calibri"/>
              </a:rPr>
              <a:t>Accuracy: ~93%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18320" y="458114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  <a:latin typeface="Calibri"/>
              </a:rPr>
              <a:t>High Recall on HS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5212080"/>
            <a:ext cx="11612880" cy="868680"/>
          </a:xfrm>
          <a:prstGeom prst="rect">
            <a:avLst/>
          </a:prstGeom>
          <a:solidFill>
            <a:srgbClr val="1A2D45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527608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  <a:latin typeface="Calibri"/>
              </a:rPr>
              <a:t>Key System Achievements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5623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✓ All 5 models train automatically on first launch via subprocess orchestration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83280" y="5623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✓ Full inference pipeline runs on any new uploaded CSV in &lt; 2 seconds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9360" y="5623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✓ Physics-informed labelling eliminates need for expensive labeled accident/degradation datasets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35440" y="5623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✓ Handles 37-column messy real-world OBD-II data with robust imputation &amp; outlier handling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  <a:latin typeface="Calibri"/>
              </a:rPr>
              <a:t>CAP_PROJ_2  |  Electric Vehicle Intelligence Platform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4AA"/>
                </a:solidFill>
                <a:latin typeface="Calibri"/>
              </a:rPr>
              <a:t>Conclusion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C4D8"/>
                </a:solidFill>
                <a:latin typeface="Calibri"/>
              </a:rPr>
              <a:t>From proof-of-concept to production EV intelligence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5486400" cy="5029200"/>
          </a:xfrm>
          <a:prstGeom prst="rect">
            <a:avLst/>
          </a:prstGeom>
          <a:solidFill>
            <a:srgbClr val="1A2D45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7899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  <a:latin typeface="Calibri"/>
              </a:rPr>
              <a:t>What We Proved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444752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Software-only ML can replicate expensive ADAS safety hardware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719072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OBD-II telemetry contains enough signal for 5 distinct predictive tasks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993392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Physics-informed labelling is a viable alternative to manual annotation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67712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Proactive HVAC throttling can extend range without driver awareness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542032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XGBoost catches rare battery stress events that tree ensembles miss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816352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Sensorless hazard detection works across all road types and weather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090672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Full auto-training pipeline requires zero manual model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364992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Dashboard handles real-world messy CSVs robustly end-to-end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005840"/>
            <a:ext cx="5852160" cy="5029200"/>
          </a:xfrm>
          <a:prstGeom prst="rect">
            <a:avLst/>
          </a:prstGeom>
          <a:solidFill>
            <a:srgbClr val="1A2D45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07899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00"/>
                </a:solidFill>
                <a:latin typeface="Calibri"/>
              </a:rPr>
              <a:t>Future Scope &amp; Extensions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1444752"/>
            <a:ext cx="5623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Deploy to Raspberry Pi mounted in real vehicle for live OBD-II streaming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1719072"/>
            <a:ext cx="5623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Add LSTM / Temporal deep learning for time-series sequence prediction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1993392"/>
            <a:ext cx="5623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Integrate GPS map overlay for route-based hazard mapping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267712"/>
            <a:ext cx="5623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Cloud API deployment (FastAPI + Docker) for fleet telemetry aggregation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542032"/>
            <a:ext cx="5623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Real accident data integration for supervised hazard model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816352"/>
            <a:ext cx="5623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Multi-vehicle fleet dashboard with driver comparison leaderboards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3090672"/>
            <a:ext cx="5623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Mobile app (iOS/Android) for driver eco-score gamification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3364992"/>
            <a:ext cx="5623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Add weather API integration (precipitation, visibility) for F4 enhancement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3639312"/>
            <a:ext cx="5623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OTA model update system: models retrain weekly on new fleet data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  <a:latin typeface="Calibri"/>
              </a:rPr>
              <a:t>CAP_PROJ_2  |  Electric Vehicle Intelligence Platform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0"/>
            <a:ext cx="12188952" cy="6400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00D4AA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Electric Vehicle Sensor Analytics — Predictive ML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46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B0C4D8"/>
                </a:solidFill>
                <a:latin typeface="Calibri"/>
              </a:rPr>
              <a:t>5 Features  |  5 ML Models  |  37 Sensor Columns  |  ~500K Data Points  |  Zero Extra Hardware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840480"/>
            <a:ext cx="5760720" cy="457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023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B700"/>
                </a:solidFill>
                <a:latin typeface="Calibri"/>
              </a:rPr>
              <a:t>Built with: Python  •  Streamlit  •  Scikit-learn  •  XGBoost  •  Pandas  •  Plotly  •  Joblib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52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  <a:latin typeface="Calibri"/>
              </a:rPr>
              <a:t>CAP_PROJ_2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